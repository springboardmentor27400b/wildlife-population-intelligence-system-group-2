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0" r:id="rId7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Petrona Bold" panose="020B0604020202020204" charset="0"/>
      <p:regular r:id="rId15"/>
    </p:embeddedFont>
    <p:embeddedFont>
      <p:font typeface="Petrona Light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9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1570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418207" y="261962"/>
            <a:ext cx="8151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Wildlife Population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Intelligence System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8207" y="1490526"/>
            <a:ext cx="815176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Milestone 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8207" y="1905758"/>
            <a:ext cx="8151763" cy="830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latin typeface="Inter" pitchFamily="34" charset="0"/>
                <a:ea typeface="Inter" pitchFamily="34" charset="-122"/>
                <a:cs typeface="Inter" pitchFamily="34" charset="-120"/>
              </a:rPr>
              <a:t>Presented by </a:t>
            </a:r>
            <a:r>
              <a:rPr lang="en-US" sz="14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Harshitha S</a:t>
            </a:r>
            <a:endParaRPr lang="en-US" sz="14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latin typeface="Inter" pitchFamily="34" charset="0"/>
                <a:ea typeface="Inter" pitchFamily="34" charset="-122"/>
                <a:cs typeface="Inter" pitchFamily="34" charset="-120"/>
              </a:rPr>
              <a:t>B.E. Computer Science and Engineering</a:t>
            </a:r>
            <a:endParaRPr lang="en-US" sz="1400" dirty="0"/>
          </a:p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latin typeface="Inter" pitchFamily="34" charset="0"/>
                <a:ea typeface="Inter" pitchFamily="34" charset="-122"/>
                <a:cs typeface="Inter" pitchFamily="34" charset="-120"/>
              </a:rPr>
              <a:t>PSNA College of Engineering and Technology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1001" y="2992051"/>
            <a:ext cx="198633" cy="19863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8206" y="3329388"/>
            <a:ext cx="1921615" cy="130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AI-Powered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418206" y="3617284"/>
            <a:ext cx="1921615" cy="12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Species recognition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2436" y="2976930"/>
            <a:ext cx="198633" cy="19863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72436" y="3305004"/>
            <a:ext cx="1921651" cy="130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Wildlife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2572436" y="3592900"/>
            <a:ext cx="1921651" cy="12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Conservation focused</a:t>
            </a:r>
            <a:endParaRPr lang="en-US" sz="1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8206" y="4046638"/>
            <a:ext cx="198633" cy="19863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8206" y="4324046"/>
            <a:ext cx="1921615" cy="130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Dashboard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418206" y="4611942"/>
            <a:ext cx="1921615" cy="12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Centralized platform</a:t>
            </a:r>
            <a:endParaRPr lang="en-US" sz="16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97879" y="4018973"/>
            <a:ext cx="198633" cy="19863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572436" y="4299662"/>
            <a:ext cx="1921651" cy="130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</a:t>
            </a:r>
            <a:endParaRPr lang="en-US" sz="2400" dirty="0"/>
          </a:p>
        </p:txBody>
      </p:sp>
      <p:sp>
        <p:nvSpPr>
          <p:cNvPr id="20" name="Text 14"/>
          <p:cNvSpPr/>
          <p:nvPr/>
        </p:nvSpPr>
        <p:spPr>
          <a:xfrm>
            <a:off x="2572436" y="4587558"/>
            <a:ext cx="1921651" cy="123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00" dirty="0">
                <a:latin typeface="Inter" pitchFamily="34" charset="0"/>
                <a:ea typeface="Inter" pitchFamily="34" charset="-122"/>
                <a:cs typeface="Inter" pitchFamily="34" charset="-120"/>
              </a:rPr>
              <a:t>Secure management</a:t>
            </a:r>
            <a:endParaRPr lang="en-US" sz="1600" dirty="0"/>
          </a:p>
        </p:txBody>
      </p:sp>
      <p:pic>
        <p:nvPicPr>
          <p:cNvPr id="22" name="Image 0" descr="preencoded.png">
            <a:extLst>
              <a:ext uri="{FF2B5EF4-FFF2-40B4-BE49-F238E27FC236}">
                <a16:creationId xmlns:a16="http://schemas.microsoft.com/office/drawing/2014/main" id="{D90D67C7-A76F-0849-840C-883BC1C88E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6920" y="3756"/>
            <a:ext cx="3429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231697"/>
            <a:ext cx="2444780" cy="424954"/>
          </a:xfrm>
          <a:prstGeom prst="roundRect">
            <a:avLst>
              <a:gd name="adj" fmla="val 22122"/>
            </a:avLst>
          </a:prstGeom>
          <a:solidFill>
            <a:srgbClr val="CCEEFF"/>
          </a:solidFill>
          <a:ln/>
        </p:spPr>
        <p:txBody>
          <a:bodyPr/>
          <a:lstStyle/>
          <a:p>
            <a:pPr>
              <a:lnSpc>
                <a:spcPct val="104000"/>
              </a:lnSpc>
            </a:pPr>
            <a:r>
              <a:rPr lang="en-US" b="1" dirty="0">
                <a:latin typeface="Petrona Bold" pitchFamily="34" charset="0"/>
              </a:rPr>
              <a:t>Problem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96119" y="782988"/>
            <a:ext cx="3730711" cy="443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WPIS?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96119" y="1357949"/>
            <a:ext cx="4335066" cy="266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32739" y="1789890"/>
            <a:ext cx="4335066" cy="1356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latin typeface="Inter" pitchFamily="34" charset="0"/>
                <a:ea typeface="Inter" pitchFamily="34" charset="-122"/>
                <a:cs typeface="Inter" pitchFamily="34" charset="-120"/>
              </a:rPr>
              <a:t>Wildlife data is collected </a:t>
            </a:r>
            <a:r>
              <a:rPr lang="en-US" sz="14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manually</a:t>
            </a:r>
            <a:r>
              <a:rPr lang="en-US" sz="1400" dirty="0">
                <a:latin typeface="Inter" pitchFamily="34" charset="0"/>
                <a:ea typeface="Inter" pitchFamily="34" charset="-122"/>
                <a:cs typeface="Inter" pitchFamily="34" charset="-120"/>
              </a:rPr>
              <a:t> and stored across scattered files.</a:t>
            </a:r>
            <a:endParaRPr lang="en-US" sz="140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latin typeface="Inter" pitchFamily="34" charset="0"/>
                <a:ea typeface="Inter" pitchFamily="34" charset="-122"/>
                <a:cs typeface="Inter" pitchFamily="34" charset="-120"/>
              </a:rPr>
              <a:t>Monitoring animal populations, field images, and observations becomes difficult to track.</a:t>
            </a:r>
            <a:endParaRPr lang="en-US" sz="1400" dirty="0"/>
          </a:p>
          <a:p>
            <a:pPr marL="213360" indent="-21336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latin typeface="Inter" pitchFamily="34" charset="0"/>
                <a:ea typeface="Inter" pitchFamily="34" charset="-122"/>
                <a:cs typeface="Inter" pitchFamily="34" charset="-120"/>
              </a:rPr>
              <a:t>Conservation teams lack a </a:t>
            </a:r>
            <a:r>
              <a:rPr lang="en-US" sz="14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 secure system</a:t>
            </a:r>
            <a:r>
              <a:rPr lang="en-US" sz="1400" dirty="0">
                <a:latin typeface="Inter" pitchFamily="34" charset="0"/>
                <a:ea typeface="Inter" pitchFamily="34" charset="-122"/>
                <a:cs typeface="Inter" pitchFamily="34" charset="-120"/>
              </a:rPr>
              <a:t> to manage wildlife information.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2739" y="3522844"/>
            <a:ext cx="4335066" cy="266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Our Objective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2739" y="3917611"/>
            <a:ext cx="4335066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latin typeface="Inter" pitchFamily="34" charset="0"/>
                <a:ea typeface="Inter" pitchFamily="34" charset="-122"/>
                <a:cs typeface="Inter" pitchFamily="34" charset="-120"/>
              </a:rPr>
              <a:t>Build a centralized platform to manage monitoring sites, sensor devices, field uploads, and wildlife observations — enhanced by </a:t>
            </a:r>
            <a:r>
              <a:rPr lang="en-US" sz="14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AI-based species recognition</a:t>
            </a:r>
            <a:r>
              <a:rPr lang="en-US" sz="1400" dirty="0">
                <a:latin typeface="Inter" pitchFamily="34" charset="0"/>
                <a:ea typeface="Inter" pitchFamily="34" charset="-122"/>
                <a:cs typeface="Inter" pitchFamily="34" charset="-120"/>
              </a:rPr>
              <a:t> for faster identification.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4391434-5ACD-E703-89E1-771BDF1F5585}"/>
              </a:ext>
            </a:extLst>
          </p:cNvPr>
          <p:cNvSpPr/>
          <p:nvPr/>
        </p:nvSpPr>
        <p:spPr>
          <a:xfrm>
            <a:off x="5839321" y="751054"/>
            <a:ext cx="2444781" cy="834262"/>
          </a:xfrm>
          <a:prstGeom prst="roundRect">
            <a:avLst>
              <a:gd name="adj" fmla="val 4681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53759490-672B-9596-B17A-085B3A69B246}"/>
              </a:ext>
            </a:extLst>
          </p:cNvPr>
          <p:cNvSpPr/>
          <p:nvPr/>
        </p:nvSpPr>
        <p:spPr>
          <a:xfrm>
            <a:off x="5914925" y="826658"/>
            <a:ext cx="212601" cy="212601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21" name="Image 5" descr="preencoded.png">
            <a:extLst>
              <a:ext uri="{FF2B5EF4-FFF2-40B4-BE49-F238E27FC236}">
                <a16:creationId xmlns:a16="http://schemas.microsoft.com/office/drawing/2014/main" id="{87621223-A7EE-D811-5C16-CB99CBB655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3415" y="885148"/>
            <a:ext cx="95622" cy="95622"/>
          </a:xfrm>
          <a:prstGeom prst="rect">
            <a:avLst/>
          </a:prstGeom>
        </p:spPr>
      </p:pic>
      <p:sp>
        <p:nvSpPr>
          <p:cNvPr id="23" name="Text 17">
            <a:extLst>
              <a:ext uri="{FF2B5EF4-FFF2-40B4-BE49-F238E27FC236}">
                <a16:creationId xmlns:a16="http://schemas.microsoft.com/office/drawing/2014/main" id="{F8C5502E-942F-FC8E-FD36-7022B7C37D96}"/>
              </a:ext>
            </a:extLst>
          </p:cNvPr>
          <p:cNvSpPr/>
          <p:nvPr/>
        </p:nvSpPr>
        <p:spPr>
          <a:xfrm>
            <a:off x="5914925" y="1074680"/>
            <a:ext cx="2221557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Centralized Data</a:t>
            </a:r>
            <a:endParaRPr lang="en-US" sz="16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F41FE112-9799-E4B4-A1B4-09850749B7D8}"/>
              </a:ext>
            </a:extLst>
          </p:cNvPr>
          <p:cNvSpPr/>
          <p:nvPr/>
        </p:nvSpPr>
        <p:spPr>
          <a:xfrm>
            <a:off x="5904251" y="1322539"/>
            <a:ext cx="222155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latin typeface="Inter" pitchFamily="34" charset="0"/>
                <a:ea typeface="Inter" pitchFamily="34" charset="-122"/>
                <a:cs typeface="Inter" pitchFamily="34" charset="-120"/>
              </a:rPr>
              <a:t>Unified wildlife database</a:t>
            </a:r>
            <a:endParaRPr lang="en-US" sz="1400" dirty="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645248EF-7E3D-9431-AFD3-A3132B016874}"/>
              </a:ext>
            </a:extLst>
          </p:cNvPr>
          <p:cNvSpPr/>
          <p:nvPr/>
        </p:nvSpPr>
        <p:spPr>
          <a:xfrm>
            <a:off x="5839321" y="1704458"/>
            <a:ext cx="2487170" cy="1008081"/>
          </a:xfrm>
          <a:prstGeom prst="roundRect">
            <a:avLst>
              <a:gd name="adj" fmla="val 4681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4423F391-15A6-F2D3-BF70-9185FFFAC387}"/>
              </a:ext>
            </a:extLst>
          </p:cNvPr>
          <p:cNvSpPr/>
          <p:nvPr/>
        </p:nvSpPr>
        <p:spPr>
          <a:xfrm>
            <a:off x="5904251" y="1769352"/>
            <a:ext cx="212601" cy="212601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31" name="Image 6" descr="preencoded.png">
            <a:extLst>
              <a:ext uri="{FF2B5EF4-FFF2-40B4-BE49-F238E27FC236}">
                <a16:creationId xmlns:a16="http://schemas.microsoft.com/office/drawing/2014/main" id="{C8BDAFC0-C6AD-B2F8-F4B9-B8C6D51D67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62741" y="1827841"/>
            <a:ext cx="95622" cy="95622"/>
          </a:xfrm>
          <a:prstGeom prst="rect">
            <a:avLst/>
          </a:prstGeom>
        </p:spPr>
      </p:pic>
      <p:sp>
        <p:nvSpPr>
          <p:cNvPr id="33" name="Text 21">
            <a:extLst>
              <a:ext uri="{FF2B5EF4-FFF2-40B4-BE49-F238E27FC236}">
                <a16:creationId xmlns:a16="http://schemas.microsoft.com/office/drawing/2014/main" id="{A5F8544F-45D7-2288-9C1C-0BAFB1E0A87F}"/>
              </a:ext>
            </a:extLst>
          </p:cNvPr>
          <p:cNvSpPr/>
          <p:nvPr/>
        </p:nvSpPr>
        <p:spPr>
          <a:xfrm>
            <a:off x="5914927" y="2016950"/>
            <a:ext cx="2221557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Smart Sites</a:t>
            </a:r>
            <a:endParaRPr lang="en-US" sz="160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39825B5A-658B-B31E-7DDC-B3A5C679F423}"/>
              </a:ext>
            </a:extLst>
          </p:cNvPr>
          <p:cNvSpPr/>
          <p:nvPr/>
        </p:nvSpPr>
        <p:spPr>
          <a:xfrm>
            <a:off x="5923944" y="2252327"/>
            <a:ext cx="222155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latin typeface="Inter" pitchFamily="34" charset="0"/>
                <a:ea typeface="Inter" pitchFamily="34" charset="-122"/>
                <a:cs typeface="Inter" pitchFamily="34" charset="-120"/>
              </a:rPr>
              <a:t>Managed monitoring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latin typeface="Inter" pitchFamily="34" charset="0"/>
                <a:ea typeface="Inter" pitchFamily="34" charset="-122"/>
                <a:cs typeface="Inter" pitchFamily="34" charset="-120"/>
              </a:rPr>
              <a:t>locations</a:t>
            </a:r>
            <a:endParaRPr lang="en-US" sz="1400" dirty="0"/>
          </a:p>
        </p:txBody>
      </p:sp>
      <p:sp>
        <p:nvSpPr>
          <p:cNvPr id="37" name="Shape 23">
            <a:extLst>
              <a:ext uri="{FF2B5EF4-FFF2-40B4-BE49-F238E27FC236}">
                <a16:creationId xmlns:a16="http://schemas.microsoft.com/office/drawing/2014/main" id="{7EF3D6AC-BD8F-9020-6B60-82A9C9523BC1}"/>
              </a:ext>
            </a:extLst>
          </p:cNvPr>
          <p:cNvSpPr/>
          <p:nvPr/>
        </p:nvSpPr>
        <p:spPr>
          <a:xfrm>
            <a:off x="5848340" y="2793122"/>
            <a:ext cx="2435762" cy="972964"/>
          </a:xfrm>
          <a:prstGeom prst="roundRect">
            <a:avLst>
              <a:gd name="adj" fmla="val 4681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39" name="Shape 24">
            <a:extLst>
              <a:ext uri="{FF2B5EF4-FFF2-40B4-BE49-F238E27FC236}">
                <a16:creationId xmlns:a16="http://schemas.microsoft.com/office/drawing/2014/main" id="{3AA04E9E-23AB-8FA4-64DF-0B0352EAEAD3}"/>
              </a:ext>
            </a:extLst>
          </p:cNvPr>
          <p:cNvSpPr/>
          <p:nvPr/>
        </p:nvSpPr>
        <p:spPr>
          <a:xfrm>
            <a:off x="5914928" y="2892771"/>
            <a:ext cx="212601" cy="212601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41" name="Image 7" descr="preencoded.png">
            <a:extLst>
              <a:ext uri="{FF2B5EF4-FFF2-40B4-BE49-F238E27FC236}">
                <a16:creationId xmlns:a16="http://schemas.microsoft.com/office/drawing/2014/main" id="{229ED5D9-981C-EB33-191D-EDBD5CD761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8526" y="2944702"/>
            <a:ext cx="95622" cy="95622"/>
          </a:xfrm>
          <a:prstGeom prst="rect">
            <a:avLst/>
          </a:prstGeom>
        </p:spPr>
      </p:pic>
      <p:sp>
        <p:nvSpPr>
          <p:cNvPr id="43" name="Text 25">
            <a:extLst>
              <a:ext uri="{FF2B5EF4-FFF2-40B4-BE49-F238E27FC236}">
                <a16:creationId xmlns:a16="http://schemas.microsoft.com/office/drawing/2014/main" id="{52E1AD2B-FD4F-1CD8-A754-98D121526A00}"/>
              </a:ext>
            </a:extLst>
          </p:cNvPr>
          <p:cNvSpPr/>
          <p:nvPr/>
        </p:nvSpPr>
        <p:spPr>
          <a:xfrm>
            <a:off x="5914928" y="3146607"/>
            <a:ext cx="2221557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Secure Uploads</a:t>
            </a:r>
            <a:endParaRPr lang="en-US" sz="1600" dirty="0"/>
          </a:p>
        </p:txBody>
      </p:sp>
      <p:sp>
        <p:nvSpPr>
          <p:cNvPr id="45" name="Text 26">
            <a:extLst>
              <a:ext uri="{FF2B5EF4-FFF2-40B4-BE49-F238E27FC236}">
                <a16:creationId xmlns:a16="http://schemas.microsoft.com/office/drawing/2014/main" id="{C2C58C98-EBAC-4951-F000-BA59E39F9DEF}"/>
              </a:ext>
            </a:extLst>
          </p:cNvPr>
          <p:cNvSpPr/>
          <p:nvPr/>
        </p:nvSpPr>
        <p:spPr>
          <a:xfrm>
            <a:off x="5923944" y="3413819"/>
            <a:ext cx="222155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latin typeface="Inter" pitchFamily="34" charset="0"/>
                <a:ea typeface="Inter" pitchFamily="34" charset="-122"/>
                <a:cs typeface="Inter" pitchFamily="34" charset="-120"/>
              </a:rPr>
              <a:t>Encrypted field transfers</a:t>
            </a:r>
            <a:endParaRPr lang="en-US" sz="1400" dirty="0"/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2AEF2D9E-AAB8-9021-9A58-977BAF2ED47B}"/>
              </a:ext>
            </a:extLst>
          </p:cNvPr>
          <p:cNvSpPr/>
          <p:nvPr/>
        </p:nvSpPr>
        <p:spPr>
          <a:xfrm>
            <a:off x="5848340" y="3812223"/>
            <a:ext cx="2435762" cy="1022608"/>
          </a:xfrm>
          <a:prstGeom prst="roundRect">
            <a:avLst>
              <a:gd name="adj" fmla="val 4681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  <p:txBody>
          <a:bodyPr/>
          <a:lstStyle/>
          <a:p>
            <a:endParaRPr lang="en-IN" sz="4800" dirty="0"/>
          </a:p>
        </p:txBody>
      </p:sp>
      <p:sp>
        <p:nvSpPr>
          <p:cNvPr id="49" name="Shape 28">
            <a:extLst>
              <a:ext uri="{FF2B5EF4-FFF2-40B4-BE49-F238E27FC236}">
                <a16:creationId xmlns:a16="http://schemas.microsoft.com/office/drawing/2014/main" id="{73D9F91A-0BC5-35E2-E062-CE90A6A65FB9}"/>
              </a:ext>
            </a:extLst>
          </p:cNvPr>
          <p:cNvSpPr/>
          <p:nvPr/>
        </p:nvSpPr>
        <p:spPr>
          <a:xfrm>
            <a:off x="5923944" y="3887827"/>
            <a:ext cx="212601" cy="212601"/>
          </a:xfrm>
          <a:prstGeom prst="ellipse">
            <a:avLst/>
          </a:prstGeom>
          <a:solidFill>
            <a:srgbClr val="007EBD"/>
          </a:solidFill>
          <a:ln/>
        </p:spPr>
      </p:sp>
      <p:pic>
        <p:nvPicPr>
          <p:cNvPr id="51" name="Image 8" descr="preencoded.png">
            <a:extLst>
              <a:ext uri="{FF2B5EF4-FFF2-40B4-BE49-F238E27FC236}">
                <a16:creationId xmlns:a16="http://schemas.microsoft.com/office/drawing/2014/main" id="{E4719873-E879-45BF-7201-6FE2CC982B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2434" y="3946317"/>
            <a:ext cx="95622" cy="95622"/>
          </a:xfrm>
          <a:prstGeom prst="rect">
            <a:avLst/>
          </a:prstGeom>
        </p:spPr>
      </p:pic>
      <p:sp>
        <p:nvSpPr>
          <p:cNvPr id="53" name="Text 29">
            <a:extLst>
              <a:ext uri="{FF2B5EF4-FFF2-40B4-BE49-F238E27FC236}">
                <a16:creationId xmlns:a16="http://schemas.microsoft.com/office/drawing/2014/main" id="{5B760FD3-E14B-5156-D8B9-F55B39CF49FD}"/>
              </a:ext>
            </a:extLst>
          </p:cNvPr>
          <p:cNvSpPr/>
          <p:nvPr/>
        </p:nvSpPr>
        <p:spPr>
          <a:xfrm>
            <a:off x="5923944" y="4135849"/>
            <a:ext cx="2221557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Recognition</a:t>
            </a:r>
            <a:endParaRPr lang="en-US" sz="1600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408D3E59-35FC-C02F-1E76-EB186AA73EA5}"/>
              </a:ext>
            </a:extLst>
          </p:cNvPr>
          <p:cNvSpPr/>
          <p:nvPr/>
        </p:nvSpPr>
        <p:spPr>
          <a:xfrm>
            <a:off x="5923944" y="4432315"/>
            <a:ext cx="2221557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latin typeface="Inter" pitchFamily="34" charset="0"/>
                <a:ea typeface="Inter" pitchFamily="34" charset="-122"/>
                <a:cs typeface="Inter" pitchFamily="34" charset="-120"/>
              </a:rPr>
              <a:t>Automated species ID</a:t>
            </a:r>
            <a:endParaRPr lang="en-US" sz="1400" dirty="0"/>
          </a:p>
        </p:txBody>
      </p:sp>
      <p:sp>
        <p:nvSpPr>
          <p:cNvPr id="57" name="Shape 0">
            <a:extLst>
              <a:ext uri="{FF2B5EF4-FFF2-40B4-BE49-F238E27FC236}">
                <a16:creationId xmlns:a16="http://schemas.microsoft.com/office/drawing/2014/main" id="{DBC2D440-5B72-91EC-EDF6-1D46FC4C58CE}"/>
              </a:ext>
            </a:extLst>
          </p:cNvPr>
          <p:cNvSpPr/>
          <p:nvPr/>
        </p:nvSpPr>
        <p:spPr>
          <a:xfrm>
            <a:off x="5792639" y="201176"/>
            <a:ext cx="2444780" cy="424954"/>
          </a:xfrm>
          <a:prstGeom prst="roundRect">
            <a:avLst>
              <a:gd name="adj" fmla="val 22122"/>
            </a:avLst>
          </a:prstGeom>
          <a:solidFill>
            <a:srgbClr val="CCEEFF"/>
          </a:solidFill>
          <a:ln/>
        </p:spPr>
        <p:txBody>
          <a:bodyPr/>
          <a:lstStyle/>
          <a:p>
            <a:pPr>
              <a:lnSpc>
                <a:spcPct val="104000"/>
              </a:lnSpc>
            </a:pPr>
            <a:r>
              <a:rPr lang="en-US" b="1" dirty="0">
                <a:latin typeface="Petrona Bold" pitchFamily="34" charset="0"/>
              </a:rPr>
              <a:t>WPIS Solution</a:t>
            </a:r>
            <a:br>
              <a:rPr lang="en-US" b="1" dirty="0">
                <a:latin typeface="Petrona Bold" pitchFamily="34" charset="0"/>
              </a:rPr>
            </a:b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40087" y="197918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Core System Modules Completed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40087" y="87568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interconnected modules form the foundation of the Wildlife Population Intelligence System.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0087" y="126196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0087" y="1483867"/>
            <a:ext cx="2622724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8" name="Text 6"/>
          <p:cNvSpPr/>
          <p:nvPr/>
        </p:nvSpPr>
        <p:spPr>
          <a:xfrm>
            <a:off x="240087" y="1592809"/>
            <a:ext cx="262272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Authentication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0087" y="1910408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login, registration, JWT authentication with role-based access for administrators and users.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04569" y="126196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04569" y="1483867"/>
            <a:ext cx="2622724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2" name="Text 10"/>
          <p:cNvSpPr/>
          <p:nvPr/>
        </p:nvSpPr>
        <p:spPr>
          <a:xfrm>
            <a:off x="3004569" y="1592809"/>
            <a:ext cx="262272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Monitoring Sites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004569" y="1910408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and manage wildlife monitoring locations with geographic tracking.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69051" y="126196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769051" y="1483867"/>
            <a:ext cx="2622724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6" name="Text 14"/>
          <p:cNvSpPr/>
          <p:nvPr/>
        </p:nvSpPr>
        <p:spPr>
          <a:xfrm>
            <a:off x="5769051" y="1592809"/>
            <a:ext cx="262272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Sensor Devices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769051" y="1910408"/>
            <a:ext cx="262272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camera traps, acoustic sensors, GPS collars, and real-time device status.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0087" y="309624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40087" y="3318148"/>
            <a:ext cx="4004965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0" name="Text 18"/>
          <p:cNvSpPr/>
          <p:nvPr/>
        </p:nvSpPr>
        <p:spPr>
          <a:xfrm>
            <a:off x="240087" y="3427091"/>
            <a:ext cx="400496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Field Uploads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0087" y="3744690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wildlife images, audio, videos, and field documents securely.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386810" y="3096246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86810" y="3318148"/>
            <a:ext cx="4004965" cy="1905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4" name="Text 22"/>
          <p:cNvSpPr/>
          <p:nvPr/>
        </p:nvSpPr>
        <p:spPr>
          <a:xfrm>
            <a:off x="4386810" y="3427091"/>
            <a:ext cx="400496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Observation Records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386810" y="3744690"/>
            <a:ext cx="40049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wildlife observations linked to sites, devices, and uploads with admin verification workflow.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78962" y="235521"/>
            <a:ext cx="815176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System Architecture and AI Species Classification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78962" y="766987"/>
            <a:ext cx="3573140" cy="139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Technology Stack</a:t>
            </a: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9158" y="1177668"/>
            <a:ext cx="3811432" cy="913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7624" y="1258036"/>
            <a:ext cx="2007189" cy="33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7624" y="1409692"/>
            <a:ext cx="2007189" cy="248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latin typeface="Inter" pitchFamily="34" charset="0"/>
                <a:ea typeface="Inter" pitchFamily="34" charset="-122"/>
                <a:cs typeface="Inter" pitchFamily="34" charset="-120"/>
              </a:rPr>
              <a:t>React + Vite + Tailwind CSS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3401" y="1177669"/>
            <a:ext cx="2007189" cy="9131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351868" y="1258036"/>
            <a:ext cx="2007284" cy="33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351868" y="1409692"/>
            <a:ext cx="2007284" cy="248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latin typeface="Inter" pitchFamily="34" charset="0"/>
                <a:ea typeface="Inter" pitchFamily="34" charset="-122"/>
                <a:cs typeface="Inter" pitchFamily="34" charset="-120"/>
              </a:rPr>
              <a:t>FastAPI REST API + JWT Auth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9158" y="1610535"/>
            <a:ext cx="3811432" cy="480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7624" y="1690903"/>
            <a:ext cx="2007189" cy="33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547624" y="1842559"/>
            <a:ext cx="2007189" cy="248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latin typeface="Inter" pitchFamily="34" charset="0"/>
                <a:ea typeface="Inter" pitchFamily="34" charset="-122"/>
                <a:cs typeface="Inter" pitchFamily="34" charset="-120"/>
              </a:rPr>
              <a:t>MongoDB Atlas (Cloud)</a:t>
            </a:r>
            <a:endParaRPr lang="en-US" sz="9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3401" y="1610535"/>
            <a:ext cx="2007189" cy="48029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351868" y="1690903"/>
            <a:ext cx="2007284" cy="33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/ ML Layer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2351868" y="1842559"/>
            <a:ext cx="2007284" cy="248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latin typeface="Inter" pitchFamily="34" charset="0"/>
                <a:ea typeface="Inter" pitchFamily="34" charset="-122"/>
                <a:cs typeface="Inter" pitchFamily="34" charset="-120"/>
              </a:rPr>
              <a:t>TensorFlow MobileNetV2 Model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587970" y="752436"/>
            <a:ext cx="1804318" cy="306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AI/ML Work Completed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4544917" y="1177668"/>
            <a:ext cx="4626637" cy="159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latin typeface="Inter" pitchFamily="34" charset="0"/>
                <a:ea typeface="Inter" pitchFamily="34" charset="-122"/>
                <a:cs typeface="Inter" pitchFamily="34" charset="-120"/>
              </a:rPr>
              <a:t>Wildlife dataset prepared with </a:t>
            </a:r>
            <a:r>
              <a:rPr lang="en-US" sz="11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5,400 images</a:t>
            </a:r>
            <a:r>
              <a:rPr lang="en-US" sz="1100" dirty="0">
                <a:latin typeface="Inter" pitchFamily="34" charset="0"/>
                <a:ea typeface="Inter" pitchFamily="34" charset="-122"/>
                <a:cs typeface="Inter" pitchFamily="34" charset="-120"/>
              </a:rPr>
              <a:t> across </a:t>
            </a:r>
            <a:r>
              <a:rPr lang="en-US" sz="11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 animal categories</a:t>
            </a:r>
            <a:r>
              <a:rPr lang="en-US" sz="1100" dirty="0"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latin typeface="Inter" pitchFamily="34" charset="0"/>
                <a:ea typeface="Inter" pitchFamily="34" charset="-122"/>
                <a:cs typeface="Inter" pitchFamily="34" charset="-120"/>
              </a:rPr>
              <a:t>Images validated and split into training, validation, and testing sets.</a:t>
            </a:r>
            <a:endParaRPr lang="en-US" sz="11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latin typeface="Inter" pitchFamily="34" charset="0"/>
                <a:ea typeface="Inter" pitchFamily="34" charset="-122"/>
                <a:cs typeface="Inter" pitchFamily="34" charset="-120"/>
              </a:rPr>
              <a:t>MobileNetV2 transfer-learning model created and trained.</a:t>
            </a:r>
            <a:endParaRPr lang="en-US" sz="11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latin typeface="Inter" pitchFamily="34" charset="0"/>
                <a:ea typeface="Inter" pitchFamily="34" charset="-122"/>
                <a:cs typeface="Inter" pitchFamily="34" charset="-120"/>
              </a:rPr>
              <a:t>Model saved as </a:t>
            </a:r>
            <a:r>
              <a:rPr lang="en-US" sz="1100" dirty="0"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.keras</a:t>
            </a:r>
            <a:r>
              <a:rPr lang="en-US" sz="1100" dirty="0">
                <a:latin typeface="Inter" pitchFamily="34" charset="0"/>
                <a:ea typeface="Inter" pitchFamily="34" charset="-122"/>
                <a:cs typeface="Inter" pitchFamily="34" charset="-120"/>
              </a:rPr>
              <a:t> file; class labels saved as JSON.</a:t>
            </a:r>
            <a:endParaRPr lang="en-US" sz="1100" dirty="0"/>
          </a:p>
          <a:p>
            <a:pPr marL="111760" indent="-111760" algn="l">
              <a:lnSpc>
                <a:spcPct val="100000"/>
              </a:lnSpc>
              <a:buSzPct val="100000"/>
              <a:buChar char="•"/>
            </a:pPr>
            <a:r>
              <a:rPr lang="en-US" sz="1100" dirty="0">
                <a:latin typeface="Inter" pitchFamily="34" charset="0"/>
                <a:ea typeface="Inter" pitchFamily="34" charset="-122"/>
                <a:cs typeface="Inter" pitchFamily="34" charset="-120"/>
              </a:rPr>
              <a:t>Secure FastAPI prediction API created for wildlife image classification.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28" y="2328937"/>
            <a:ext cx="7894884" cy="290125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58236" y="4329552"/>
            <a:ext cx="1482215" cy="48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Predicted Species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4951223" y="4333293"/>
            <a:ext cx="1482216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MobileNetV2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2810577" y="4296342"/>
            <a:ext cx="1693443" cy="481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Preprocessing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1114792" y="4294775"/>
            <a:ext cx="1482215" cy="2407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Image Input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E0A4A6-20B9-84E5-4DC8-EEB596EAB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555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02477" y="331406"/>
            <a:ext cx="8339045" cy="324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Milestone 1 Status and Next Steps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05893" y="971207"/>
            <a:ext cx="3596878" cy="194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Current Status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05893" y="1461277"/>
            <a:ext cx="3596878" cy="825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1200" dirty="0">
                <a:latin typeface="Inter" pitchFamily="34" charset="0"/>
                <a:ea typeface="Inter" pitchFamily="34" charset="-122"/>
                <a:cs typeface="Inter" pitchFamily="34" charset="-120"/>
              </a:rPr>
              <a:t>Authentication, Monitoring Sites, Sensor Devices, Field Uploads, and Observation Records — </a:t>
            </a:r>
            <a:r>
              <a:rPr lang="en-US" sz="1200" b="1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completed</a:t>
            </a:r>
            <a:r>
              <a:rPr lang="en-US" sz="1200" dirty="0"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1200" dirty="0">
                <a:latin typeface="Inter" pitchFamily="34" charset="0"/>
                <a:ea typeface="Inter" pitchFamily="34" charset="-122"/>
                <a:cs typeface="Inter" pitchFamily="34" charset="-120"/>
              </a:rPr>
              <a:t>Frontend, backend, and MongoDB Atlas are fully connected.</a:t>
            </a:r>
            <a:endParaRPr lang="en-US" sz="120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1200" dirty="0">
                <a:latin typeface="Inter" pitchFamily="34" charset="0"/>
                <a:ea typeface="Inter" pitchFamily="34" charset="-122"/>
                <a:cs typeface="Inter" pitchFamily="34" charset="-120"/>
              </a:rPr>
              <a:t>Wildlife image upload and observation creation are working.</a:t>
            </a:r>
            <a:endParaRPr lang="en-US" sz="120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1200" dirty="0">
                <a:latin typeface="Inter" pitchFamily="34" charset="0"/>
                <a:ea typeface="Inter" pitchFamily="34" charset="-122"/>
                <a:cs typeface="Inter" pitchFamily="34" charset="-120"/>
              </a:rPr>
              <a:t>ML model trained and connected to backend prediction API.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35141" y="933710"/>
            <a:ext cx="4017504" cy="194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1999" y="1431535"/>
            <a:ext cx="3500155" cy="8549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1200" dirty="0">
                <a:latin typeface="Inter" pitchFamily="34" charset="0"/>
                <a:ea typeface="Inter" pitchFamily="34" charset="-122"/>
                <a:cs typeface="Inter" pitchFamily="34" charset="-120"/>
              </a:rPr>
              <a:t>Test the AI prediction API using real wildlife images.</a:t>
            </a:r>
            <a:endParaRPr lang="en-US" sz="120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1200" dirty="0">
                <a:latin typeface="Inter" pitchFamily="34" charset="0"/>
                <a:ea typeface="Inter" pitchFamily="34" charset="-122"/>
                <a:cs typeface="Inter" pitchFamily="34" charset="-120"/>
              </a:rPr>
              <a:t>Display predicted species and confidence score in the frontend.</a:t>
            </a:r>
            <a:endParaRPr lang="en-US" sz="120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1200" dirty="0">
                <a:latin typeface="Inter" pitchFamily="34" charset="0"/>
                <a:ea typeface="Inter" pitchFamily="34" charset="-122"/>
                <a:cs typeface="Inter" pitchFamily="34" charset="-120"/>
              </a:rPr>
              <a:t>Store AI prediction results in MongoDB.</a:t>
            </a:r>
            <a:endParaRPr lang="en-US" sz="120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1200" dirty="0">
                <a:latin typeface="Inter" pitchFamily="34" charset="0"/>
                <a:ea typeface="Inter" pitchFamily="34" charset="-122"/>
                <a:cs typeface="Inter" pitchFamily="34" charset="-120"/>
              </a:rPr>
              <a:t>Auto-create observations from AI predictions.</a:t>
            </a:r>
            <a:endParaRPr lang="en-US" sz="1200" dirty="0"/>
          </a:p>
          <a:p>
            <a:pPr marL="193040" indent="-193040" algn="l">
              <a:lnSpc>
                <a:spcPct val="124000"/>
              </a:lnSpc>
              <a:buSzPct val="100000"/>
              <a:buChar char="•"/>
            </a:pPr>
            <a:r>
              <a:rPr lang="en-US" sz="1200" dirty="0">
                <a:latin typeface="Inter" pitchFamily="34" charset="0"/>
                <a:ea typeface="Inter" pitchFamily="34" charset="-122"/>
                <a:cs typeface="Inter" pitchFamily="34" charset="-120"/>
              </a:rPr>
              <a:t>Improve model accuracy and prepare for deployment.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6119" y="3888209"/>
            <a:ext cx="8151763" cy="551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000" b="1" dirty="0"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438</Words>
  <Application>Microsoft Office PowerPoint</Application>
  <PresentationFormat>On-screen Show (16:9)</PresentationFormat>
  <Paragraphs>87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Inter Bold</vt:lpstr>
      <vt:lpstr>Consolas</vt:lpstr>
      <vt:lpstr>Inter</vt:lpstr>
      <vt:lpstr>Arial</vt:lpstr>
      <vt:lpstr>Petrona Bold</vt:lpstr>
      <vt:lpstr>Petrona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Harshitha Saravanan</dc:creator>
  <cp:lastModifiedBy>harshysaravanan@gmail.com</cp:lastModifiedBy>
  <cp:revision>3</cp:revision>
  <dcterms:created xsi:type="dcterms:W3CDTF">2026-07-10T12:23:07Z</dcterms:created>
  <dcterms:modified xsi:type="dcterms:W3CDTF">2026-07-10T12:46:45Z</dcterms:modified>
</cp:coreProperties>
</file>